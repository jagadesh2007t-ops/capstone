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0a3c737b0c4a47" /><Relationship Type="http://schemas.openxmlformats.org/officeDocument/2006/relationships/extended-properties" Target="/docProps/app.xml" Id="R8e4dc5c975214085" /><Relationship Type="http://schemas.openxmlformats.org/officeDocument/2006/relationships/officeDocument" Target="/ppt/presentation.xml" Id="Rf902519e3bc1426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39b3dea160749eb"/>
  </p:sldMasterIdLst>
  <p:notesMasterIdLst>
    <p:notesMasterId xmlns:r="http://schemas.openxmlformats.org/officeDocument/2006/relationships" r:id="Rd9ac671927e14853"/>
  </p:notesMasterIdLst>
  <p:sldIdLst>
    <p:sldId xmlns:r="http://schemas.openxmlformats.org/officeDocument/2006/relationships" id="256" r:id="Rfe2b88a26a874522"/>
    <p:sldId xmlns:r="http://schemas.openxmlformats.org/officeDocument/2006/relationships" id="257" r:id="Ra9466eda38bd494d"/>
    <p:sldId xmlns:r="http://schemas.openxmlformats.org/officeDocument/2006/relationships" id="258" r:id="Rbc32b287dafd4369"/>
    <p:sldId xmlns:r="http://schemas.openxmlformats.org/officeDocument/2006/relationships" id="259" r:id="Rb2bc082e51894480"/>
    <p:sldId xmlns:r="http://schemas.openxmlformats.org/officeDocument/2006/relationships" id="260" r:id="R2d0d67a432734307"/>
    <p:sldId xmlns:r="http://schemas.openxmlformats.org/officeDocument/2006/relationships" id="261" r:id="R98b1f55530394fae"/>
    <p:sldId xmlns:r="http://schemas.openxmlformats.org/officeDocument/2006/relationships" id="262" r:id="R5891c91ec7c045e2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d9a8fca5eeec4608"/>
      <p:bold xmlns:r="http://schemas.openxmlformats.org/officeDocument/2006/relationships" r:id="R757f61938d3e49fe"/>
      <p:italic xmlns:r="http://schemas.openxmlformats.org/officeDocument/2006/relationships" r:id="Ra20180e10180498b"/>
      <p:boldItalic xmlns:r="http://schemas.openxmlformats.org/officeDocument/2006/relationships" r:id="R0cdfbdbc80cd411e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d86e941a0049f1" /><Relationship Type="http://schemas.openxmlformats.org/officeDocument/2006/relationships/slideMaster" Target="/ppt/slideMasters/slideMaster1.xml" Id="R939b3dea160749eb" /><Relationship Type="http://schemas.openxmlformats.org/officeDocument/2006/relationships/notesMaster" Target="/ppt/notesMasters/notesMaster1.xml" Id="Rd9ac671927e14853" /><Relationship Type="http://schemas.openxmlformats.org/officeDocument/2006/relationships/presProps" Target="/ppt/presProps.xml" Id="Rc61aa01cb82d4e01" /><Relationship Type="http://schemas.openxmlformats.org/officeDocument/2006/relationships/viewProps" Target="/ppt/viewProps.xml" Id="R84cd121474f947f7" /><Relationship Type="http://schemas.openxmlformats.org/officeDocument/2006/relationships/tableStyles" Target="/ppt/tableStyles.xml" Id="R4582e3621ddf48fa" /><Relationship Type="http://schemas.openxmlformats.org/officeDocument/2006/relationships/font" Target="/ppt/fonts/font.dat" Id="Rd9a8fca5eeec4608" /><Relationship Type="http://schemas.openxmlformats.org/officeDocument/2006/relationships/font" Target="/ppt/fonts/font2.dat" Id="R757f61938d3e49fe" /><Relationship Type="http://schemas.openxmlformats.org/officeDocument/2006/relationships/font" Target="/ppt/fonts/font3.dat" Id="Ra20180e10180498b" /><Relationship Type="http://schemas.openxmlformats.org/officeDocument/2006/relationships/font" Target="/ppt/fonts/font4.dat" Id="R0cdfbdbc80cd411e" /><Relationship Type="http://schemas.openxmlformats.org/officeDocument/2006/relationships/slide" Target="/ppt/slides/slide1.xml" Id="Rfe2b88a26a874522" /><Relationship Type="http://schemas.openxmlformats.org/officeDocument/2006/relationships/slide" Target="/ppt/slides/slide2.xml" Id="Ra9466eda38bd494d" /><Relationship Type="http://schemas.openxmlformats.org/officeDocument/2006/relationships/slide" Target="/ppt/slides/slide3.xml" Id="Rbc32b287dafd4369" /><Relationship Type="http://schemas.openxmlformats.org/officeDocument/2006/relationships/slide" Target="/ppt/slides/slide4.xml" Id="Rb2bc082e51894480" /><Relationship Type="http://schemas.openxmlformats.org/officeDocument/2006/relationships/slide" Target="/ppt/slides/slide5.xml" Id="R2d0d67a432734307" /><Relationship Type="http://schemas.openxmlformats.org/officeDocument/2006/relationships/slide" Target="/ppt/slides/slide6.xml" Id="R98b1f55530394fae" /><Relationship Type="http://schemas.openxmlformats.org/officeDocument/2006/relationships/slide" Target="/ppt/slides/slide7.xml" Id="R5891c91ec7c045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eeeaaf6e204b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4b7e63396b48a3" /><Relationship Type="http://schemas.openxmlformats.org/officeDocument/2006/relationships/notesMaster" Target="/ppt/notesMasters/notesMaster1.xml" Id="R5fd16e81e0e3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00671ddf694e2f" /><Relationship Type="http://schemas.openxmlformats.org/officeDocument/2006/relationships/notesMaster" Target="/ppt/notesMasters/notesMaster1.xml" Id="Rafd512bbfebd44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902c0aca4846c9" /><Relationship Type="http://schemas.openxmlformats.org/officeDocument/2006/relationships/notesMaster" Target="/ppt/notesMasters/notesMaster1.xml" Id="Rc3451b8e673d4b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edda9583fb4a19" /><Relationship Type="http://schemas.openxmlformats.org/officeDocument/2006/relationships/notesMaster" Target="/ppt/notesMasters/notesMaster1.xml" Id="R3b1593411ca347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cc760fbf374e32" /><Relationship Type="http://schemas.openxmlformats.org/officeDocument/2006/relationships/notesMaster" Target="/ppt/notesMasters/notesMaster1.xml" Id="R1f14d87082f643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579c37212a4fac" /><Relationship Type="http://schemas.openxmlformats.org/officeDocument/2006/relationships/notesMaster" Target="/ppt/notesMasters/notesMaster1.xml" Id="R35bfccd55d1646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b45fa4cc4f46e2" /><Relationship Type="http://schemas.openxmlformats.org/officeDocument/2006/relationships/notesMaster" Target="/ppt/notesMasters/notesMaster1.xml" Id="Rc27315af5ada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college project. Hardware, software and collection plan are assumptions to adapt to the actual implementation. Any example results are synthetic and do not represent measured project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college project. Hardware, software and collection plan are assumptions to adapt to the actual implementation. Any example results are synthetic and do not represent measured project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college project. Hardware, software and collection plan are assumptions to adapt to the actual implementation. Any example results are synthetic and do not represent measured project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college project. Hardware, software and collection plan are assumptions to adapt to the actual implementation. Any example results are synthetic and do not represent measured project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college project. Hardware, software and collection plan are assumptions to adapt to the actual implementation. Any example results are synthetic and do not represent measured project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college project. Hardware, software and collection plan are assumptions to adapt to the actual implementation. Any example results are synthetic and do not represent measured project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college project. Hardware, software and collection plan are assumptions to adapt to the actual implementation. Any example results are synthetic and do not represent measured project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649c0d4d34b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a8996074e46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ca3496b3d4a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48e8c9e3747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bf7ce9af14d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36e43cf7846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4afb967f74d2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ac667f47b489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18f1dadd4a427c" /><Relationship Type="http://schemas.openxmlformats.org/officeDocument/2006/relationships/slideLayout" Target="/ppt/slideLayouts/slideLayout1.xml" Id="R2517e398863742c3" /><Relationship Type="http://schemas.openxmlformats.org/officeDocument/2006/relationships/slideLayout" Target="/ppt/slideLayouts/slideLayout2.xml" Id="Rcd30732f30dc46ed" /><Relationship Type="http://schemas.openxmlformats.org/officeDocument/2006/relationships/slideLayout" Target="/ppt/slideLayouts/slideLayout3.xml" Id="R7fb0a666cd144ccd" /><Relationship Type="http://schemas.openxmlformats.org/officeDocument/2006/relationships/slideLayout" Target="/ppt/slideLayouts/slideLayout4.xml" Id="R963db015dddc4c6d" /><Relationship Type="http://schemas.openxmlformats.org/officeDocument/2006/relationships/slideLayout" Target="/ppt/slideLayouts/slideLayout5.xml" Id="R36a4a0929f244795" /><Relationship Type="http://schemas.openxmlformats.org/officeDocument/2006/relationships/slideLayout" Target="/ppt/slideLayouts/slideLayout6.xml" Id="R2d2332164a814586" /><Relationship Type="http://schemas.openxmlformats.org/officeDocument/2006/relationships/slideLayout" Target="/ppt/slideLayouts/slideLayout7.xml" Id="R224533e4eec742f6" /><Relationship Type="http://schemas.openxmlformats.org/officeDocument/2006/relationships/slideLayout" Target="/ppt/slideLayouts/slideLayout8.xml" Id="Rcdebcadf2f9944f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17e398863742c3"/>
    <p:sldLayoutId xmlns:r="http://schemas.openxmlformats.org/officeDocument/2006/relationships" id="2147483650" r:id="Rcd30732f30dc46ed"/>
    <p:sldLayoutId xmlns:r="http://schemas.openxmlformats.org/officeDocument/2006/relationships" id="2147483651" r:id="R7fb0a666cd144ccd"/>
    <p:sldLayoutId xmlns:r="http://schemas.openxmlformats.org/officeDocument/2006/relationships" id="2147483652" r:id="R963db015dddc4c6d"/>
    <p:sldLayoutId xmlns:r="http://schemas.openxmlformats.org/officeDocument/2006/relationships" id="2147483653" r:id="R36a4a0929f244795"/>
    <p:sldLayoutId xmlns:r="http://schemas.openxmlformats.org/officeDocument/2006/relationships" id="2147483654" r:id="R2d2332164a814586"/>
    <p:sldLayoutId xmlns:r="http://schemas.openxmlformats.org/officeDocument/2006/relationships" id="2147483655" r:id="R224533e4eec742f6"/>
    <p:sldLayoutId xmlns:r="http://schemas.openxmlformats.org/officeDocument/2006/relationships" id="2147483656" r:id="Rcdebcadf2f9944f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59f5c50694e4d" /><Relationship Type="http://schemas.openxmlformats.org/officeDocument/2006/relationships/notesSlide" Target="/ppt/notesSlides/notesSlide1.xml" Id="R44b950ccbeed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8338dd14a4350" /><Relationship Type="http://schemas.openxmlformats.org/officeDocument/2006/relationships/notesSlide" Target="/ppt/notesSlides/notesSlide2.xml" Id="Rfbf7109d080249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39ddf92b64f19" /><Relationship Type="http://schemas.openxmlformats.org/officeDocument/2006/relationships/notesSlide" Target="/ppt/notesSlides/notesSlide3.xml" Id="R291f885635874e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4471dc3614b64" /><Relationship Type="http://schemas.openxmlformats.org/officeDocument/2006/relationships/notesSlide" Target="/ppt/notesSlides/notesSlide4.xml" Id="R411b3e944b124e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f2d5ccd5d4cc8" /><Relationship Type="http://schemas.openxmlformats.org/officeDocument/2006/relationships/notesSlide" Target="/ppt/notesSlides/notesSlide5.xml" Id="R1db635d1e66044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308dcb9ba4cd7" /><Relationship Type="http://schemas.openxmlformats.org/officeDocument/2006/relationships/chart" Target="/ppt/slides/charts/chart1.xml" Id="R93cecfd2dcd34a39" /><Relationship Type="http://schemas.openxmlformats.org/officeDocument/2006/relationships/notesSlide" Target="/ppt/notesSlides/notesSlide6.xml" Id="Ra90878266e2f4a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3d62c64a94bfe" /><Relationship Type="http://schemas.openxmlformats.org/officeDocument/2006/relationships/notesSlide" Target="/ppt/notesSlides/notesSlide7.xml" Id="Raa3b9c6133a3421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Temperature (°C)</c:v>
          </c:tx>
          <c:spPr>
            <a:solidFill xmlns:a="http://schemas.openxmlformats.org/drawingml/2006/main">
              <a:srgbClr val="66CCEE"/>
            </a:solidFill>
          </c:spPr>
          <c:marker>
            <c:symbol val="none"/>
          </c:marker>
          <c:cat>
            <c:strRef>
              <c:f>'Chart Data'!$A$2:$A$7</c:f>
              <c:strCache>
                <c:ptCount val="6"/>
                <c:pt idx="0">
                  <c:v>09:00</c:v>
                </c:pt>
                <c:pt idx="1">
                  <c:v>10:00</c:v>
                </c:pt>
                <c:pt idx="2">
                  <c:v>11:00</c:v>
                </c:pt>
                <c:pt idx="3">
                  <c:v>12:00</c:v>
                </c:pt>
                <c:pt idx="4">
                  <c:v>13:00</c:v>
                </c:pt>
                <c:pt idx="5">
                  <c:v>14:00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24</c:v>
                </c:pt>
                <c:pt idx="1">
                  <c:v>25</c:v>
                </c:pt>
                <c:pt idx="2">
                  <c:v>27</c:v>
                </c:pt>
                <c:pt idx="3">
                  <c:v>32</c:v>
                </c:pt>
                <c:pt idx="4">
                  <c:v>31</c:v>
                </c:pt>
                <c:pt idx="5">
                  <c:v>29</c:v>
                </c:pt>
              </c:numCache>
            </c:numRef>
          </c:val>
        </c:ser>
        <c:ser>
          <c:idx val="1"/>
          <c:order val="1"/>
          <c:tx>
            <c:v>Threshold (°C)</c:v>
          </c:tx>
          <c:spPr>
            <a:solidFill xmlns:a="http://schemas.openxmlformats.org/drawingml/2006/main">
              <a:srgbClr val="288EFF"/>
            </a:solidFill>
          </c:spPr>
          <c:marker>
            <c:symbol val="none"/>
          </c:marker>
          <c:cat>
            <c:strRef>
              <c:f>'Chart Data'!$C$2:$C$7</c:f>
              <c:strCache>
                <c:ptCount val="6"/>
                <c:pt idx="0">
                  <c:v>09:00</c:v>
                </c:pt>
                <c:pt idx="1">
                  <c:v>10:00</c:v>
                </c:pt>
                <c:pt idx="2">
                  <c:v>11:00</c:v>
                </c:pt>
                <c:pt idx="3">
                  <c:v>12:00</c:v>
                </c:pt>
                <c:pt idx="4">
                  <c:v>13:00</c:v>
                </c:pt>
                <c:pt idx="5">
                  <c:v>14:00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31</c:v>
                </c:pt>
                <c:pt idx="1">
                  <c:v>31</c:v>
                </c:pt>
                <c:pt idx="2">
                  <c:v>31</c:v>
                </c:pt>
                <c:pt idx="3">
                  <c:v>31</c:v>
                </c:pt>
                <c:pt idx="4">
                  <c:v>31</c:v>
                </c:pt>
                <c:pt idx="5">
                  <c:v>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Temperature (°C)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IoT Sensor &amp;</a:t>
            </a:r>
          </a:p>
          <a:p xmlns:a="http://schemas.openxmlformats.org/drawingml/2006/main">
            <a:r>
              <a:rPr sz="7200"/>
              <a:t>Data Analysis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A proposed temperature and humidity monitoring system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College project presentation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ENVIRONMENTAL MONITORING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Problem statement and objectives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75"/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Problem statement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Manual readings leave gaps between observations and make environmental changes difficult to track.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Project scope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Monitor a room using temperature and humidity readings from one sensor node.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75"/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Project objectives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Record readings with timestamps.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Store measurements for later analysis.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Clean missing or invalid readings.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Visualize trends and flag threshold crossings.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Sensors and system architecture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333625"/>
            <a:ext cx="3568700" cy="3667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725"/>
            </a:defPPr>
            <a:lvl1pPr>
              <a:buNone/>
              <a:defRPr sz="1875"/>
            </a:lvl1pPr>
            <a:lvl2pPr>
              <a:buNone/>
              <a:defRPr sz="1875"/>
            </a:lvl2pPr>
            <a:lvl3pPr>
              <a:buNone/>
              <a:defRPr sz="1875"/>
            </a:lvl3pPr>
            <a:lvl4pPr>
              <a:buNone/>
              <a:defRPr sz="1875"/>
            </a:lvl4pPr>
            <a:lvl5pPr>
              <a:buNone/>
              <a:defRPr sz="1875"/>
            </a:lvl5pPr>
            <a:lvl6pPr>
              <a:buNone/>
              <a:defRPr sz="1875"/>
            </a:lvl6pPr>
            <a:lvl7pPr>
              <a:buNone/>
              <a:defRPr sz="1875"/>
            </a:lvl7pPr>
            <a:lvl8pPr>
              <a:buNone/>
              <a:defRPr sz="1875"/>
            </a:lvl8pPr>
            <a:lvl9pPr>
              <a:buNone/>
              <a:defRPr sz="1875"/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/>
            </a:pPr>
            <a:r>
              <a:rPr sz="1725">
                <a:latin typeface="Helvetica Neue"/>
                <a:ea typeface="Helvetica Neue"/>
                <a:cs typeface="Helvetica Neue"/>
              </a:rPr>
              <a:t>Sensing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/>
            </a:pPr>
            <a:r>
              <a:rPr sz="1725">
                <a:latin typeface="Helvetica Neue"/>
                <a:ea typeface="Helvetica Neue"/>
                <a:cs typeface="Helvetica Neue"/>
              </a:rPr>
              <a:t>Proposed sensor: DHT22.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/>
            </a:pPr>
            <a:r>
              <a:rPr sz="1725">
                <a:latin typeface="Helvetica Neue"/>
                <a:ea typeface="Helvetica Neue"/>
                <a:cs typeface="Helvetica Neue"/>
              </a:rPr>
              <a:t>Measure temperature (°C) and relative humidity (% RH).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/>
            </a:pPr>
            <a:r>
              <a:rPr sz="1725">
                <a:latin typeface="Helvetica Neue"/>
                <a:ea typeface="Helvetica Neue"/>
                <a:cs typeface="Helvetica Neue"/>
              </a:rPr>
              <a:t>ESP32 reads the sensor at a planned interval of 60 seconds.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2333625"/>
            <a:ext cx="3568700" cy="36671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/>
            </a:defPPr>
            <a:lvl1pPr>
              <a:buNone/>
              <a:defRPr sz="1875"/>
            </a:lvl1pPr>
            <a:lvl2pPr>
              <a:buNone/>
              <a:defRPr sz="1875"/>
            </a:lvl2pPr>
            <a:lvl3pPr>
              <a:buNone/>
              <a:defRPr sz="1875"/>
            </a:lvl3pPr>
            <a:lvl4pPr>
              <a:buNone/>
              <a:defRPr sz="1875"/>
            </a:lvl4pPr>
            <a:lvl5pPr>
              <a:buNone/>
              <a:defRPr sz="1875"/>
            </a:lvl5pPr>
            <a:lvl6pPr>
              <a:buNone/>
              <a:defRPr sz="1875"/>
            </a:lvl6pPr>
            <a:lvl7pPr>
              <a:buNone/>
              <a:defRPr sz="1875"/>
            </a:lvl7pPr>
            <a:lvl8pPr>
              <a:buNone/>
              <a:defRPr sz="1875"/>
            </a:lvl8pPr>
            <a:lvl9pPr>
              <a:buNone/>
              <a:defRPr sz="1875"/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Analysis and display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Python and pandas process stored readings.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Matplotlib plots trends.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dashboard shows recent readings and threshold alerts.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2333625"/>
            <a:ext cx="3568700" cy="36671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/>
            </a:defPPr>
            <a:lvl1pPr>
              <a:buNone/>
              <a:defRPr sz="1875"/>
            </a:lvl1pPr>
            <a:lvl2pPr>
              <a:buNone/>
              <a:defRPr sz="1875"/>
            </a:lvl2pPr>
            <a:lvl3pPr>
              <a:buNone/>
              <a:defRPr sz="1875"/>
            </a:lvl3pPr>
            <a:lvl4pPr>
              <a:buNone/>
              <a:defRPr sz="1875"/>
            </a:lvl4pPr>
            <a:lvl5pPr>
              <a:buNone/>
              <a:defRPr sz="1875"/>
            </a:lvl5pPr>
            <a:lvl6pPr>
              <a:buNone/>
              <a:defRPr sz="1875"/>
            </a:lvl6pPr>
            <a:lvl7pPr>
              <a:buNone/>
              <a:defRPr sz="1875"/>
            </a:lvl7pPr>
            <a:lvl8pPr>
              <a:buNone/>
              <a:defRPr sz="1875"/>
            </a:lvl8pPr>
            <a:lvl9pPr>
              <a:buNone/>
              <a:defRPr sz="1875"/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Transmission and storage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ESP32 sends timestamped readings over Wi-Fi.</a:t>
            </a:r>
          </a:p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  <a:p xmlns:a="http://schemas.openxmlformats.org/drawingml/2006/main">
            <a:pPr marL="0" indent="0">
              <a:buNone/>
              <a:defRPr sz="1725"/>
            </a:pPr>
            <a:r>
              <a:rPr sz="1725"/>
              <a:t>An MQTT broker passes messages to a collector.</a:t>
            </a:r>
            <a:endParaRPr/>
          </a:p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  <a:p xmlns:a="http://schemas.openxmlformats.org/drawingml/2006/main">
            <a:pPr marL="0" indent="0">
              <a:buNone/>
              <a:defRPr sz="1725"/>
            </a:pPr>
            <a:r>
              <a:rPr sz="1725"/>
              <a:t>The collector stores records in CSV or a database.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Dataset and preprocessing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75"/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Dataset design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Fields: timestamp, device_id, temperature_c, humidity_pct and quality_flag.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Planned collection: 1 reading per minute for 24 hours.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Expected records: 1,440 for one node, before data loss.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0694"/>
          </a:bodyPr>
          <a:lstStyle xmlns:a="http://schemas.openxmlformats.org/drawingml/2006/main">
            <a:defPPr>
              <a:defRPr sz="1875"/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Preprocessing workflow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Parse timestamps and sort records.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Remove duplicate device–timestamp pairs.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Flag missing values and impossible humidity values outside 0–100%.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Mark short interpolated gaps and retain longer gaps as missing.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Analysis methods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333625"/>
            <a:ext cx="3568700" cy="3667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725"/>
            </a:defPPr>
            <a:lvl1pPr>
              <a:buNone/>
              <a:defRPr sz="1875"/>
            </a:lvl1pPr>
            <a:lvl2pPr>
              <a:buNone/>
              <a:defRPr sz="1875"/>
            </a:lvl2pPr>
            <a:lvl3pPr>
              <a:buNone/>
              <a:defRPr sz="1875"/>
            </a:lvl3pPr>
            <a:lvl4pPr>
              <a:buNone/>
              <a:defRPr sz="1875"/>
            </a:lvl4pPr>
            <a:lvl5pPr>
              <a:buNone/>
              <a:defRPr sz="1875"/>
            </a:lvl5pPr>
            <a:lvl6pPr>
              <a:buNone/>
              <a:defRPr sz="1875"/>
            </a:lvl6pPr>
            <a:lvl7pPr>
              <a:buNone/>
              <a:defRPr sz="1875"/>
            </a:lvl7pPr>
            <a:lvl8pPr>
              <a:buNone/>
              <a:defRPr sz="1875"/>
            </a:lvl8pPr>
            <a:lvl9pPr>
              <a:buNone/>
              <a:defRPr sz="1875"/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/>
            </a:pPr>
            <a:r>
              <a:rPr sz="1725">
                <a:latin typeface="Helvetica Neue"/>
                <a:ea typeface="Helvetica Neue"/>
                <a:cs typeface="Helvetica Neue"/>
              </a:rPr>
              <a:t>Descriptive statistics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/>
            </a:pPr>
            <a:r>
              <a:rPr sz="1725">
                <a:latin typeface="Helvetica Neue"/>
                <a:ea typeface="Helvetica Neue"/>
                <a:cs typeface="Helvetica Neue"/>
              </a:rPr>
              <a:t>Calculate count, mean, minimum and maximum for each variable.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/>
            </a:pPr>
            <a:r>
              <a:rPr sz="1725">
                <a:latin typeface="Helvetica Neue"/>
                <a:ea typeface="Helvetica Neue"/>
                <a:cs typeface="Helvetica Neue"/>
              </a:rPr>
              <a:t>Report missing-data percentage.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/>
            </a:pPr>
            <a:r>
              <a:rPr sz="1725">
                <a:latin typeface="Helvetica Neue"/>
                <a:ea typeface="Helvetica Neue"/>
                <a:cs typeface="Helvetica Neue"/>
              </a:rPr>
              <a:t>Compare hourly summaries to identify changes over time.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2333625"/>
            <a:ext cx="3568700" cy="36671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/>
            </a:defPPr>
            <a:lvl1pPr>
              <a:buNone/>
              <a:defRPr sz="1875"/>
            </a:lvl1pPr>
            <a:lvl2pPr>
              <a:buNone/>
              <a:defRPr sz="1875"/>
            </a:lvl2pPr>
            <a:lvl3pPr>
              <a:buNone/>
              <a:defRPr sz="1875"/>
            </a:lvl3pPr>
            <a:lvl4pPr>
              <a:buNone/>
              <a:defRPr sz="1875"/>
            </a:lvl4pPr>
            <a:lvl5pPr>
              <a:buNone/>
              <a:defRPr sz="1875"/>
            </a:lvl5pPr>
            <a:lvl6pPr>
              <a:buNone/>
              <a:defRPr sz="1875"/>
            </a:lvl6pPr>
            <a:lvl7pPr>
              <a:buNone/>
              <a:defRPr sz="1875"/>
            </a:lvl7pPr>
            <a:lvl8pPr>
              <a:buNone/>
              <a:defRPr sz="1875"/>
            </a:lvl8pPr>
            <a:lvl9pPr>
              <a:buNone/>
              <a:defRPr sz="1875"/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Anomaly detection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readings with configurable thresholds.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Example rule: temperature above 30°C.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 sudden changes against nearby readings before treating them as real events.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2333625"/>
            <a:ext cx="3568700" cy="36671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/>
            </a:defPPr>
            <a:lvl1pPr>
              <a:buNone/>
              <a:defRPr sz="1875"/>
            </a:lvl1pPr>
            <a:lvl2pPr>
              <a:buNone/>
              <a:defRPr sz="1875"/>
            </a:lvl2pPr>
            <a:lvl3pPr>
              <a:buNone/>
              <a:defRPr sz="1875"/>
            </a:lvl3pPr>
            <a:lvl4pPr>
              <a:buNone/>
              <a:defRPr sz="1875"/>
            </a:lvl4pPr>
            <a:lvl5pPr>
              <a:buNone/>
              <a:defRPr sz="1875"/>
            </a:lvl5pPr>
            <a:lvl6pPr>
              <a:buNone/>
              <a:defRPr sz="1875"/>
            </a:lvl6pPr>
            <a:lvl7pPr>
              <a:buNone/>
              <a:defRPr sz="1875"/>
            </a:lvl7pPr>
            <a:lvl8pPr>
              <a:buNone/>
              <a:defRPr sz="1875"/>
            </a:lvl8pPr>
            <a:lvl9pPr>
              <a:buNone/>
              <a:defRPr sz="1875"/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Trend analysis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/>
            </a:pPr>
            <a:r>
              <a:rPr sz="1725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Plot temperature and humidity separately with units.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  <a:p xmlns:a="http://schemas.openxmlformats.org/drawingml/2006/main">
            <a:pPr marL="0" indent="0">
              <a:buNone/>
              <a:defRPr sz="1725"/>
            </a:pPr>
            <a:r>
              <a:rPr sz="1725"/>
              <a:t>Use a five-reading moving average to reduce short-term noise.</a:t>
            </a:r>
            <a:endParaRPr/>
          </a:p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  <a:p xmlns:a="http://schemas.openxmlformats.org/drawingml/2006/main">
            <a:pPr marL="0" indent="0">
              <a:buNone/>
              <a:defRPr sz="1725"/>
            </a:pPr>
            <a:r>
              <a:rPr sz="1725"/>
              <a:t>Inspect correlation without claiming causation.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and visualizations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4"/>
            <a:ext cx="2133315" cy="1155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28°C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Mean temperature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in the example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4"/>
            <a:ext cx="2133315" cy="1155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 / 6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Example readings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above 31°C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Illustrative data only, not measured results.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Temperature peaks at 32°C at 12:00.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One of six readings exceeds the 31°C example threshold.</a:t>
            </a:r>
          </a:p>
        </p:txBody>
      </p:sp>
      <p:graphicFrame>
        <p:nvGraphicFramePr>
          <p:cNvPr id="44" name="Chart">
            <a:extLst xmlns:a="http://schemas.openxmlformats.org/drawingml/2006/main">
              <a:ext uri="{FF2B5EF4-FFF2-40B4-BE49-F238E27FC236}">
                <a16:creationId xmlns:a16="http://schemas.microsoft.com/office/drawing/2014/main" id="{812641C8-8FD8-4172-A68A-38366491278B}"/>
              </a:ext>
            </a:extLst>
          </p:cNvPr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5381625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cecfd2dcd34a39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Conclusion and future work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75"/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Project conclusion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The proposed workflow connects sensing, storage and analysis in one repeatable process.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The illustrative chart demonstrates how trends and threshold events could appear.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Measured performance still requires a physical prototype and real readings.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75"/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/>
            </a:pPr>
            <a:r>
              <a:rPr sz="187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Future work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Collect and validate a full day of sensor data.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Compare readings with a reference instrument.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Add more nodes and test network interruptions.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/>
            </a:pPr>
            <a:r>
              <a:rPr sz="1875">
                <a:latin typeface="Helvetica Neue"/>
                <a:ea typeface="Helvetica Neue"/>
                <a:cs typeface="Helvetica Neue"/>
              </a:rPr>
              <a:t>Evaluate alert accuracy and power consumption.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2026-10-24T12:28:36.4880000Z</dcterms:created>
  <dcterms:modified xsi:type="dcterms:W3CDTF">2026-10-24T12:28:36.4880000Z</dcterms:modified>
</coreProperties>
</file>